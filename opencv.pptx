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304" r:id="rId6"/>
    <p:sldId id="312" r:id="rId7"/>
    <p:sldId id="313" r:id="rId8"/>
    <p:sldId id="277" r:id="rId9"/>
    <p:sldId id="280" r:id="rId10"/>
    <p:sldId id="311" r:id="rId11"/>
    <p:sldId id="309" r:id="rId12"/>
    <p:sldId id="310" r:id="rId13"/>
    <p:sldId id="306" r:id="rId14"/>
    <p:sldId id="302" r:id="rId15"/>
    <p:sldId id="271" r:id="rId16"/>
    <p:sldId id="272" r:id="rId17"/>
  </p:sldIdLst>
  <p:sldSz cx="12192000" cy="6858000" type="screen16x9"/>
  <p:notesSz cx="6858000" cy="9144000"/>
  <p:embeddedFontLs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  <p:embeddedFont>
      <p:font typeface="Lato Black" panose="020F0802020204030203"/>
      <p:bold r:id="rId29"/>
      <p:boldItalic r:id="rId30"/>
    </p:embeddedFont>
    <p:embeddedFont>
      <p:font typeface="Microsoft YaHei" panose="020B0503020204020204" charset="-122"/>
      <p:regular r:id="rId31"/>
      <p:bold r:id="rId32"/>
    </p:embeddedFont>
    <p:embeddedFont>
      <p:font typeface="Libre Baskerville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6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0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1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02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3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4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9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048589" name="Google Shape;9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10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597" name="Google Shape;10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11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048648" name="Google Shape;11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/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/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376555" y="-163195"/>
            <a:ext cx="12568555" cy="706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99;p1"/>
          <p:cNvSpPr txBox="1"/>
          <p:nvPr/>
        </p:nvSpPr>
        <p:spPr>
          <a:xfrm>
            <a:off x="1847850" y="3717290"/>
            <a:ext cx="7861935" cy="103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altLang="en-US" sz="4000" b="1" i="0" u="none" strike="noStrike" cap="none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Hand Gesture Presentation</a:t>
            </a:r>
            <a:endParaRPr lang="en-US" altLang="en-US" sz="40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altLang="en-US" sz="4000" b="1" i="0" u="none" strike="noStrike" cap="none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8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048587" name="Text Box 0"/>
          <p:cNvSpPr txBox="1"/>
          <p:nvPr/>
        </p:nvSpPr>
        <p:spPr>
          <a:xfrm>
            <a:off x="623570" y="5053330"/>
            <a:ext cx="3857625" cy="1438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1600"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Presented by:</a:t>
            </a:r>
            <a:endParaRPr lang="en-US" sz="1800" b="1"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B. Pravallika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Batch No: 480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104;p3"/>
          <p:cNvSpPr txBox="1"/>
          <p:nvPr/>
        </p:nvSpPr>
        <p:spPr>
          <a:xfrm>
            <a:off x="1064260" y="1852295"/>
            <a:ext cx="10131425" cy="349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lang="en-IN" sz="20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have  completed my B.Tech in Computer Science and </a:t>
            </a:r>
            <a:r>
              <a:rPr lang="en-US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Engineering</a:t>
            </a:r>
            <a:r>
              <a:rPr lang="en-US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</a:t>
            </a:r>
            <a:endParaRPr lang="en-US" sz="2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at Nalla Malla Reddy Engineering College.</a:t>
            </a:r>
            <a:r>
              <a:rPr lang="en-US" sz="24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                  </a:t>
            </a:r>
            <a:endParaRPr sz="24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lang="en-IN" sz="20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IN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Interested in leveraging data to drive </a:t>
            </a:r>
            <a:r>
              <a:rPr lang="en-US" altLang="en-IN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insights and solutions in tech </a:t>
            </a:r>
            <a:r>
              <a:rPr lang="en-US" altLang="en-IN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healthcare,</a:t>
            </a:r>
            <a:endParaRPr lang="en-US" altLang="en-IN" sz="2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IN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</a:t>
            </a:r>
            <a:r>
              <a:rPr lang="en-US" altLang="en-IN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solving real-world problems.</a:t>
            </a:r>
            <a:endParaRPr sz="20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Char char="•"/>
            </a:pPr>
            <a:endParaRPr lang="en-US" altLang="en-US" sz="2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altLang="en-US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</a:t>
            </a:r>
            <a:r>
              <a:rPr lang="en-US" altLang="en-US"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https://www.linkedin.com/in/baddam-pravallika</a:t>
            </a:r>
            <a:endParaRPr lang="en-US" altLang="en-US" sz="20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altLang="en-US"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https://github.com/Baddampravallika</a:t>
            </a:r>
            <a:endParaRPr lang="en-US" altLang="en-US" sz="20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n-US" altLang="en-US" sz="2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</a:t>
            </a:r>
            <a:endParaRPr lang="en-US" altLang="en-US" sz="2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8594" name="Google Shape;105;p3"/>
          <p:cNvSpPr txBox="1"/>
          <p:nvPr/>
        </p:nvSpPr>
        <p:spPr>
          <a:xfrm>
            <a:off x="1188720" y="995680"/>
            <a:ext cx="5337810" cy="53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4400" b="0" i="0" u="none" strike="noStrike" cap="none">
                <a:solidFill>
                  <a:srgbClr val="FF0000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About me</a:t>
            </a:r>
            <a:endParaRPr lang="en-IN" sz="4400" b="0" i="0" u="none" strike="noStrike" cap="none">
              <a:solidFill>
                <a:srgbClr val="FF0000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sp>
        <p:nvSpPr>
          <p:cNvPr id="104859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75995" y="274955"/>
            <a:ext cx="10606405" cy="1143000"/>
          </a:xfrm>
        </p:spPr>
        <p:txBody>
          <a:bodyPr/>
          <a:p>
            <a:pPr algn="l"/>
            <a:r>
              <a:rPr lang="en-US" b="1">
                <a:solidFill>
                  <a:srgbClr val="FF0000"/>
                </a:solidFill>
              </a:rPr>
              <a:t>  Agenda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94080" y="1630045"/>
            <a:ext cx="4213860" cy="4496435"/>
          </a:xfrm>
        </p:spPr>
        <p:txBody>
          <a:bodyPr/>
          <a:p>
            <a:r>
              <a:rPr lang="en-US" sz="2200"/>
              <a:t>Business Problem</a:t>
            </a:r>
            <a:endParaRPr lang="en-US" sz="2200"/>
          </a:p>
          <a:p>
            <a:r>
              <a:rPr lang="en-US" sz="2200"/>
              <a:t>Problem Statement</a:t>
            </a:r>
            <a:endParaRPr lang="en-US" sz="2200"/>
          </a:p>
          <a:p>
            <a:r>
              <a:rPr lang="en-US" sz="2200"/>
              <a:t>Data Understanding</a:t>
            </a:r>
            <a:endParaRPr lang="en-US" sz="2200"/>
          </a:p>
          <a:p>
            <a:r>
              <a:rPr lang="en-US" sz="2200"/>
              <a:t>Data Preprocessing</a:t>
            </a:r>
            <a:endParaRPr lang="en-US" sz="2200"/>
          </a:p>
          <a:p>
            <a:r>
              <a:rPr lang="en-US" sz="2200"/>
              <a:t>Model Building</a:t>
            </a:r>
            <a:endParaRPr lang="en-US" sz="2200"/>
          </a:p>
          <a:p>
            <a:r>
              <a:rPr lang="en-US" sz="2200"/>
              <a:t>Model Evaluation</a:t>
            </a:r>
            <a:endParaRPr lang="en-US" sz="2200"/>
          </a:p>
          <a:p>
            <a:r>
              <a:rPr lang="en-US" sz="2200"/>
              <a:t>Model Deployment</a:t>
            </a:r>
            <a:endParaRPr lang="en-US" sz="2200"/>
          </a:p>
          <a:p>
            <a:r>
              <a:rPr lang="en-US" sz="2200"/>
              <a:t>Monitoring &amp; Maintainance</a:t>
            </a:r>
            <a:endParaRPr lang="en-US" sz="2200"/>
          </a:p>
          <a:p>
            <a:r>
              <a:rPr lang="en-US" sz="2200"/>
              <a:t>Conclusion</a:t>
            </a:r>
            <a:endParaRPr lang="en-US" sz="22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" name="Picture 1" descr="Gemini_Generated_Image_n5hlczn5hlczn5h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300" y="1499235"/>
            <a:ext cx="5727065" cy="3793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Business Problem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635" y="1659255"/>
            <a:ext cx="10302875" cy="4497705"/>
          </a:xfrm>
        </p:spPr>
        <p:txBody>
          <a:bodyPr/>
          <a:p>
            <a:pPr marL="0" indent="0" algn="just">
              <a:lnSpc>
                <a:spcPct val="130000"/>
              </a:lnSpc>
              <a:buNone/>
            </a:pPr>
            <a:r>
              <a:rPr lang="en-US" altLang="en-US" sz="2200"/>
              <a:t>Traditional presentations are limited by a</a:t>
            </a:r>
            <a:endParaRPr lang="en-US" altLang="en-US" sz="2200"/>
          </a:p>
          <a:p>
            <a:pPr algn="just">
              <a:lnSpc>
                <a:spcPct val="130000"/>
              </a:lnSpc>
            </a:pPr>
            <a:r>
              <a:rPr lang="en-US" altLang="en-US" sz="2200" b="1"/>
              <a:t>Hardware Dependency:</a:t>
            </a:r>
            <a:r>
              <a:rPr lang="en-US" altLang="en-US" sz="2200"/>
              <a:t> Presenters are restricted by physical clickers, mouse, or laptop "tethering", limiting natural movement and body language.</a:t>
            </a:r>
            <a:endParaRPr lang="en-US" altLang="en-US" sz="2200"/>
          </a:p>
          <a:p>
            <a:pPr algn="just">
              <a:lnSpc>
                <a:spcPct val="130000"/>
              </a:lnSpc>
            </a:pPr>
            <a:r>
              <a:rPr lang="en-US" altLang="en-US" sz="2200" b="1"/>
              <a:t>High Cost of Interaction: </a:t>
            </a:r>
            <a:r>
              <a:rPr lang="en-US" altLang="en-US" sz="2200"/>
              <a:t>Digital whiteboards and high-end interactive systems are expensive, fragile, and not portable.</a:t>
            </a:r>
            <a:endParaRPr lang="en-US" altLang="en-US" sz="2200"/>
          </a:p>
          <a:p>
            <a:pPr algn="just">
              <a:lnSpc>
                <a:spcPct val="130000"/>
              </a:lnSpc>
            </a:pPr>
            <a:r>
              <a:rPr lang="en-US" altLang="en-US" sz="2200" b="1"/>
              <a:t>Engagement Friction:</a:t>
            </a:r>
            <a:r>
              <a:rPr lang="en-US" altLang="en-US" sz="2200"/>
              <a:t> Moving back to a PC to draw, zoom, or switch slides breaks the flow of the presentation and audience connection.</a:t>
            </a:r>
            <a:endParaRPr lang="en-US" alt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Problem Statement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630" y="1417955"/>
            <a:ext cx="10052685" cy="4708525"/>
          </a:xfrm>
        </p:spPr>
        <p:txBody>
          <a:bodyPr/>
          <a:p>
            <a:pPr marL="0" indent="0">
              <a:lnSpc>
                <a:spcPct val="100000"/>
              </a:lnSpc>
              <a:buNone/>
            </a:pPr>
            <a:endParaRPr lang="en-US" altLang="en-US" sz="2200"/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en-US" sz="2200"/>
              <a:t>To develop a high-performance, computer vision-based Human-Computer Interface (HCI) that translates 21 spatial hand landmarks into actionable presentation commands. The goal is to provide a fluid, "air-touch" experience that replaces traditional input devices.functioning on any standard RGB webcam to ensure cost-effectiveness and portability without requiring specialized depth sensors or infrared hardware.</a:t>
            </a:r>
            <a:endParaRPr lang="en-US" altLang="en-US" sz="2200"/>
          </a:p>
          <a:p>
            <a:pPr>
              <a:lnSpc>
                <a:spcPct val="100000"/>
              </a:lnSpc>
            </a:pPr>
            <a:endParaRPr lang="en-US" alt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52195" y="274955"/>
            <a:ext cx="9971405" cy="1143000"/>
          </a:xfrm>
        </p:spPr>
        <p:txBody>
          <a:bodyPr/>
          <a:p>
            <a:r>
              <a:rPr lang="en-US" altLang="en-US" sz="4000" b="1">
                <a:solidFill>
                  <a:srgbClr val="FF0000"/>
                </a:solidFill>
                <a:sym typeface="+mn-ea"/>
              </a:rPr>
              <a:t>Data Understanding</a:t>
            </a:r>
            <a:endParaRPr lang="en-US" altLang="en-US" sz="4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7" name="Text Box 6"/>
          <p:cNvSpPr txBox="1"/>
          <p:nvPr/>
        </p:nvSpPr>
        <p:spPr>
          <a:xfrm>
            <a:off x="1113155" y="1285240"/>
            <a:ext cx="9910445" cy="4497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b="1"/>
              <a:t>Source: </a:t>
            </a:r>
            <a:r>
              <a:rPr lang="en-US" altLang="en-US" sz="2200"/>
              <a:t>Real-time RGB video feed from a standard webcam.</a:t>
            </a:r>
            <a:endParaRPr lang="en-US" altLang="en-US" sz="220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b="1"/>
              <a:t>Raw Input:</a:t>
            </a:r>
            <a:r>
              <a:rPr lang="en-US" altLang="en-US" sz="2200"/>
              <a:t> Frames typically captured at a resolution of 640 × 480 pixels at 30 frames per second (FPS).</a:t>
            </a:r>
            <a:r>
              <a:rPr lang="en-US" altLang="en-US" sz="2200">
                <a:sym typeface="+mn-ea"/>
              </a:rPr>
              <a:t>The model specifically looks for 21 hand landmarks to interpret spatial coordinates as data points.</a:t>
            </a:r>
            <a:endParaRPr lang="en-US" altLang="en-US" sz="220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b="1"/>
              <a:t>Data Type:</a:t>
            </a:r>
            <a:r>
              <a:rPr lang="en-US" altLang="en-US" sz="2200"/>
              <a:t> Unstructured image data that is converted into structured coordinate data.</a:t>
            </a:r>
            <a:endParaRPr lang="en-US" altLang="en-US" sz="220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/>
              <a:t>The model converts raw landmarks into a high-level Binary Vector [Thumb, Index, Middle, Ring, Pinky]</a:t>
            </a:r>
            <a:endParaRPr lang="en-US" altLang="en-US" sz="2200"/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200" b="1"/>
              <a:t>Example: </a:t>
            </a:r>
            <a:r>
              <a:rPr lang="en-US" altLang="en-US" sz="2200"/>
              <a:t>A data vector of [0, 1, 0, 0, 0] tells the system that only the index finger is up, triggering the "Draw" state.</a:t>
            </a:r>
            <a:endParaRPr lang="en-US" alt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30300" y="274955"/>
            <a:ext cx="9944735" cy="1143000"/>
          </a:xfrm>
        </p:spPr>
        <p:txBody>
          <a:bodyPr/>
          <a:p>
            <a:r>
              <a:rPr lang="en-US" altLang="en-US" sz="4000" b="1">
                <a:solidFill>
                  <a:srgbClr val="FF0000"/>
                </a:solidFill>
              </a:rPr>
              <a:t>Data Pre-processing</a:t>
            </a:r>
            <a:endParaRPr lang="en-US" altLang="en-US" sz="4000" b="1">
              <a:solidFill>
                <a:srgbClr val="FF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83640" y="1556385"/>
            <a:ext cx="9793605" cy="4399915"/>
          </a:xfrm>
        </p:spPr>
        <p:txBody>
          <a:bodyPr/>
          <a:p>
            <a:pPr>
              <a:lnSpc>
                <a:spcPct val="140000"/>
              </a:lnSpc>
            </a:pPr>
            <a:r>
              <a:rPr lang="en-US" altLang="en-US" sz="2200" b="1"/>
              <a:t>Image Augmentation:</a:t>
            </a:r>
            <a:r>
              <a:rPr lang="en-US" altLang="en-US" sz="2200"/>
              <a:t> uses cv2.flip(img, 1) to provide a mirrored view, making it intuitive for the user (move hand right, pointer moves right).</a:t>
            </a:r>
            <a:endParaRPr lang="en-US" altLang="en-US" sz="2200"/>
          </a:p>
          <a:p>
            <a:pPr>
              <a:lnSpc>
                <a:spcPct val="140000"/>
              </a:lnSpc>
            </a:pPr>
            <a:r>
              <a:rPr lang="en-US" altLang="en-US" sz="2200" b="1"/>
              <a:t>Normalization &amp; Scaling:</a:t>
            </a:r>
            <a:r>
              <a:rPr lang="en-US" altLang="en-US" sz="2200"/>
              <a:t> uses np.interp to map camera coordinates to screen coordinates.</a:t>
            </a:r>
            <a:endParaRPr lang="en-US" altLang="en-US" sz="2200"/>
          </a:p>
          <a:p>
            <a:pPr>
              <a:lnSpc>
                <a:spcPct val="140000"/>
              </a:lnSpc>
            </a:pPr>
            <a:r>
              <a:rPr lang="en-US" altLang="en-US" sz="2200" b="1"/>
              <a:t>Smoothing:</a:t>
            </a:r>
            <a:r>
              <a:rPr lang="en-US" altLang="en-US" sz="2200"/>
              <a:t> implemented a linear interpolation logic (currX = prevX + (xval - prevX) / smoothening) to reduce "jitter" from the raw sensor data.</a:t>
            </a:r>
            <a:endParaRPr lang="en-US" altLang="en-US" sz="2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974725" y="1513840"/>
            <a:ext cx="10110470" cy="4612640"/>
          </a:xfrm>
        </p:spPr>
        <p:txBody>
          <a:bodyPr/>
          <a:p>
            <a:pPr algn="just"/>
            <a:r>
              <a:rPr lang="en-US" altLang="en-US" sz="1800" b="1"/>
              <a:t>Algorithm:</a:t>
            </a:r>
            <a:r>
              <a:rPr lang="en-US" altLang="en-US" sz="1800"/>
              <a:t> utilizing a Mediapipe-based Hand Tracking Model (via cvzone).</a:t>
            </a:r>
            <a:endParaRPr lang="en-US" altLang="en-US" sz="1800"/>
          </a:p>
          <a:p>
            <a:pPr algn="just"/>
            <a:r>
              <a:rPr lang="en-US" altLang="en-US" sz="1800" b="1"/>
              <a:t>Hand Landmarks: </a:t>
            </a:r>
            <a:r>
              <a:rPr lang="en-US" altLang="en-US" sz="1800"/>
              <a:t>The model identifies specific joints (lmList).</a:t>
            </a:r>
            <a:endParaRPr lang="en-US" altLang="en-US" sz="1800"/>
          </a:p>
          <a:p>
            <a:pPr algn="just"/>
            <a:r>
              <a:rPr lang="en-US" altLang="en-US" sz="1800" b="1"/>
              <a:t>Gesture Logic: </a:t>
            </a:r>
            <a:r>
              <a:rPr lang="en-US" altLang="en-US" sz="1800"/>
              <a:t>This is the "Heuristic Model." </a:t>
            </a:r>
            <a:endParaRPr lang="en-US" altLang="en-US" sz="1800"/>
          </a:p>
          <a:p>
            <a:pPr algn="just"/>
            <a:r>
              <a:rPr lang="en-US" altLang="en-US" sz="1800" b="1"/>
              <a:t>Index and middle Finger(Pointer):</a:t>
            </a:r>
            <a:r>
              <a:rPr lang="en-US" altLang="en-US" sz="1800"/>
              <a:t> Moves the cursor</a:t>
            </a:r>
            <a:endParaRPr lang="en-US" altLang="en-US" sz="1800"/>
          </a:p>
          <a:p>
            <a:pPr algn="just"/>
            <a:r>
              <a:rPr lang="en-US" altLang="en-US" sz="1800" b="1"/>
              <a:t>Index Finger Only-(Drawing Mode):</a:t>
            </a:r>
            <a:r>
              <a:rPr lang="en-US" altLang="en-US" sz="1800"/>
              <a:t> Moves the cursor and draws lines if held.</a:t>
            </a:r>
            <a:endParaRPr lang="en-US" altLang="en-US" sz="1800"/>
          </a:p>
          <a:p>
            <a:pPr algn="just"/>
            <a:r>
              <a:rPr lang="en-US" altLang="en-US" sz="1800" b="1"/>
              <a:t>Thumb Only-Above threshold(Previous Slide):</a:t>
            </a:r>
            <a:r>
              <a:rPr lang="en-US" altLang="en-US" sz="1800"/>
              <a:t> Navigates to the left.</a:t>
            </a:r>
            <a:endParaRPr lang="en-US" altLang="en-US" sz="1800"/>
          </a:p>
          <a:p>
            <a:pPr algn="just"/>
            <a:r>
              <a:rPr lang="en-US" altLang="en-US" sz="1800" b="1"/>
              <a:t>Pinky Only-Above threshold(Next Slide): </a:t>
            </a:r>
            <a:r>
              <a:rPr lang="en-US" altLang="en-US" sz="1800"/>
              <a:t>Navigates to the right.</a:t>
            </a:r>
            <a:endParaRPr lang="en-US" altLang="en-US" sz="1800"/>
          </a:p>
          <a:p>
            <a:pPr algn="just"/>
            <a:r>
              <a:rPr lang="en-US" altLang="en-US" sz="1800" b="1"/>
              <a:t>Thumb + Index(Color Change-Red): </a:t>
            </a:r>
            <a:r>
              <a:rPr lang="en-US" altLang="en-US" sz="1800"/>
              <a:t>Changes ink to (0, 0, 255).</a:t>
            </a:r>
            <a:endParaRPr lang="en-US" altLang="en-US" sz="1800"/>
          </a:p>
          <a:p>
            <a:pPr algn="just"/>
            <a:r>
              <a:rPr lang="en-US" altLang="en-US" sz="1800" b="1"/>
              <a:t>Middle, Ring, Pinky(Color Change-Green):</a:t>
            </a:r>
            <a:r>
              <a:rPr lang="en-US" altLang="en-US" sz="1800"/>
              <a:t> Changes ink to (0, 255, 0).</a:t>
            </a:r>
            <a:endParaRPr lang="en-US" altLang="en-US" sz="1800"/>
          </a:p>
          <a:p>
            <a:pPr algn="just"/>
            <a:r>
              <a:rPr lang="en-US" altLang="en-US" sz="1800" b="1"/>
              <a:t>Ring + Pinky(Color Change-Blue): </a:t>
            </a:r>
            <a:r>
              <a:rPr lang="en-US" altLang="en-US" sz="1800"/>
              <a:t>Changes ink to (255, 0, 0).</a:t>
            </a:r>
            <a:endParaRPr lang="en-US" altLang="en-US" sz="1800"/>
          </a:p>
          <a:p>
            <a:pPr algn="just"/>
            <a:r>
              <a:rPr lang="en-US" altLang="en-US" sz="1800" b="1"/>
              <a:t>All Fingers-No Thumb(Zoom Mode):</a:t>
            </a:r>
            <a:r>
              <a:rPr lang="en-US" altLang="en-US" sz="1800"/>
              <a:t> Move hand up/down to scale the slide.</a:t>
            </a:r>
            <a:endParaRPr lang="en-US" altLang="en-US" sz="1800"/>
          </a:p>
          <a:p>
            <a:pPr algn="just"/>
            <a:r>
              <a:rPr lang="en-US" altLang="en-US" sz="1800" b="1"/>
              <a:t>Index, Middle, Ring-Undo: </a:t>
            </a:r>
            <a:r>
              <a:rPr lang="en-US" altLang="en-US" sz="1800"/>
              <a:t>Erases the last drawn line/annotation.</a:t>
            </a:r>
            <a:endParaRPr lang="en-US" altLang="en-US" sz="1800"/>
          </a:p>
          <a:p>
            <a:pPr algn="just"/>
            <a:r>
              <a:rPr lang="en-US" altLang="en-US" sz="1800" b="1"/>
              <a:t>Full Open Palm(Clear All): </a:t>
            </a:r>
            <a:r>
              <a:rPr lang="en-US" altLang="en-US" sz="1800"/>
              <a:t>Wipes all annotations from the current slide.</a:t>
            </a:r>
            <a:endParaRPr lang="en-US" altLang="en-US" sz="1800"/>
          </a:p>
          <a:p>
            <a:pPr algn="just"/>
            <a:r>
              <a:rPr lang="en-US" altLang="en-US" sz="1800" b="1"/>
              <a:t>Thumb, Index, Middle(Save Slide):</a:t>
            </a:r>
            <a:r>
              <a:rPr lang="en-US" altLang="en-US" sz="1800"/>
              <a:t> Captures current screen as a .png file.</a:t>
            </a:r>
            <a:endParaRPr lang="en-US" altLang="en-US" sz="1800"/>
          </a:p>
          <a:p>
            <a:pPr algn="just"/>
            <a:endParaRPr lang="en-US" altLang="en-US" sz="1800"/>
          </a:p>
        </p:txBody>
      </p:sp>
      <p:sp>
        <p:nvSpPr>
          <p:cNvPr id="6" name="Text Box 5"/>
          <p:cNvSpPr txBox="1"/>
          <p:nvPr/>
        </p:nvSpPr>
        <p:spPr>
          <a:xfrm>
            <a:off x="974725" y="548640"/>
            <a:ext cx="10175875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400" b="1">
                <a:solidFill>
                  <a:srgbClr val="FF0000"/>
                </a:solidFill>
              </a:rPr>
              <a:t>Model Building</a:t>
            </a:r>
            <a:endParaRPr lang="en-US" altLang="en-US" sz="4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963295" y="1614170"/>
            <a:ext cx="10184130" cy="4370070"/>
          </a:xfrm>
        </p:spPr>
        <p:txBody>
          <a:bodyPr/>
          <a:p>
            <a:pPr algn="just">
              <a:lnSpc>
                <a:spcPct val="130000"/>
              </a:lnSpc>
            </a:pPr>
            <a:r>
              <a:rPr lang="en-US" altLang="en-US" sz="2200" b="1"/>
              <a:t>Confidence Threshold:</a:t>
            </a:r>
            <a:r>
              <a:rPr lang="en-US" altLang="en-US" sz="2200"/>
              <a:t> detectionCon=0.9 in the HandDetector. This ensures the system only reacts when it is 90% sure it sees a hand, reducing "ghost" triggers.</a:t>
            </a:r>
            <a:endParaRPr lang="en-US" altLang="en-US" sz="2200"/>
          </a:p>
          <a:p>
            <a:pPr algn="just">
              <a:lnSpc>
                <a:spcPct val="130000"/>
              </a:lnSpc>
            </a:pPr>
            <a:r>
              <a:rPr lang="en-US" altLang="en-US" sz="2200" b="1"/>
              <a:t>Latency Check:</a:t>
            </a:r>
            <a:r>
              <a:rPr lang="en-US" altLang="en-US" sz="2200"/>
              <a:t> The use of buttonDelay and drawDelay ensures the model doesn't over-trigger gestures (debounce logic).</a:t>
            </a:r>
            <a:endParaRPr lang="en-US" altLang="en-US" sz="2200"/>
          </a:p>
          <a:p>
            <a:pPr algn="just">
              <a:lnSpc>
                <a:spcPct val="130000"/>
              </a:lnSpc>
            </a:pPr>
            <a:r>
              <a:rPr lang="en-US" altLang="en-US" sz="2200" b="1"/>
              <a:t>Visual Feedback:</a:t>
            </a:r>
            <a:r>
              <a:rPr lang="en-US" altLang="en-US" sz="2200"/>
              <a:t> The red circle (cv2.circle) serves as real-time evaluation feedback for the user to see if the tracking is accurate.</a:t>
            </a:r>
            <a:endParaRPr lang="en-US" altLang="en-US" sz="2200"/>
          </a:p>
        </p:txBody>
      </p:sp>
      <p:sp>
        <p:nvSpPr>
          <p:cNvPr id="7" name="Text Box 6"/>
          <p:cNvSpPr txBox="1"/>
          <p:nvPr/>
        </p:nvSpPr>
        <p:spPr>
          <a:xfrm>
            <a:off x="1320165" y="487680"/>
            <a:ext cx="9589770" cy="8718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4400" b="1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charset="-122"/>
              </a:rPr>
              <a:t>Model Evaluation</a:t>
            </a:r>
            <a:endParaRPr lang="en-US" altLang="en-US" sz="4400" b="1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891540" y="1671955"/>
            <a:ext cx="10260965" cy="4454525"/>
          </a:xfrm>
        </p:spPr>
        <p:txBody>
          <a:bodyPr/>
          <a:p>
            <a:pPr>
              <a:lnSpc>
                <a:spcPct val="110000"/>
              </a:lnSpc>
            </a:pPr>
            <a:r>
              <a:rPr lang="en-US" altLang="en-US" sz="2200" b="1"/>
              <a:t>The Goal:</a:t>
            </a:r>
            <a:r>
              <a:rPr lang="en-US" altLang="en-US" sz="2200"/>
              <a:t> Integration into the final environment.</a:t>
            </a:r>
            <a:endParaRPr lang="en-US" altLang="en-US" sz="2200"/>
          </a:p>
          <a:p>
            <a:pPr>
              <a:lnSpc>
                <a:spcPct val="110000"/>
              </a:lnSpc>
            </a:pPr>
            <a:r>
              <a:rPr lang="en-US" altLang="en-US" sz="2200" b="1"/>
              <a:t>UI/UX: </a:t>
            </a:r>
            <a:r>
              <a:rPr lang="en-US" altLang="en-US" sz="2200"/>
              <a:t>used cv2.WND_PROP_FULLSCREEN to deploy the app as a professional presentation tool.</a:t>
            </a:r>
            <a:endParaRPr lang="en-US" altLang="en-US" sz="2200"/>
          </a:p>
          <a:p>
            <a:pPr>
              <a:lnSpc>
                <a:spcPct val="110000"/>
              </a:lnSpc>
            </a:pPr>
            <a:r>
              <a:rPr lang="en-US" altLang="en-US" sz="2200" b="1"/>
              <a:t>Feature Integration:</a:t>
            </a:r>
            <a:r>
              <a:rPr lang="en-US" altLang="en-US" sz="2200"/>
              <a:t> (Zoom Engine) Dynamic scaling of the slide image.</a:t>
            </a:r>
            <a:endParaRPr lang="en-US" altLang="en-US" sz="2200"/>
          </a:p>
          <a:p>
            <a:pPr>
              <a:lnSpc>
                <a:spcPct val="110000"/>
              </a:lnSpc>
            </a:pPr>
            <a:r>
              <a:rPr lang="en-US" altLang="en-US" sz="2200" b="1"/>
              <a:t>Slide-Wise Storage:</a:t>
            </a:r>
            <a:r>
              <a:rPr lang="en-US" altLang="en-US" sz="2200"/>
              <a:t> Using a dictionary (annotations = {i: []}) ensures that drawings are "pinned" to specific slides and don't disappear when moving between pages.</a:t>
            </a:r>
            <a:endParaRPr lang="en-US" altLang="en-US" sz="2200"/>
          </a:p>
          <a:p>
            <a:pPr>
              <a:lnSpc>
                <a:spcPct val="110000"/>
              </a:lnSpc>
            </a:pPr>
            <a:r>
              <a:rPr lang="en-US" altLang="en-US" sz="2200" b="1"/>
              <a:t>Feedback Loop:</a:t>
            </a:r>
            <a:r>
              <a:rPr lang="en-US" altLang="en-US" sz="2200"/>
              <a:t> A PIP (Picture-in-Picture) camera overlay provides the user with real-time feedback of their hand position relative to the gestureThreshold.</a:t>
            </a:r>
            <a:endParaRPr lang="en-US" altLang="en-US" sz="2200"/>
          </a:p>
          <a:p>
            <a:pPr>
              <a:lnSpc>
                <a:spcPct val="110000"/>
              </a:lnSpc>
            </a:pPr>
            <a:r>
              <a:rPr lang="en-US" altLang="en-US" sz="2200" b="1"/>
              <a:t>Storage: </a:t>
            </a:r>
            <a:r>
              <a:rPr lang="en-US" altLang="en-US" sz="2200"/>
              <a:t>The Save feature allows capturing annotated slides as .png files.</a:t>
            </a:r>
            <a:endParaRPr lang="en-US" altLang="en-US" sz="2200"/>
          </a:p>
        </p:txBody>
      </p:sp>
      <p:sp>
        <p:nvSpPr>
          <p:cNvPr id="3" name="Text Box 2"/>
          <p:cNvSpPr txBox="1"/>
          <p:nvPr/>
        </p:nvSpPr>
        <p:spPr>
          <a:xfrm>
            <a:off x="996315" y="628650"/>
            <a:ext cx="10156825" cy="821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4400" b="1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charset="-122"/>
              </a:rPr>
              <a:t>Model Deployment</a:t>
            </a:r>
            <a:endParaRPr lang="en-US" sz="4400" b="1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1009015" y="1556385"/>
            <a:ext cx="10194290" cy="4570095"/>
          </a:xfrm>
        </p:spPr>
        <p:txBody>
          <a:bodyPr/>
          <a:p>
            <a:pPr>
              <a:lnSpc>
                <a:spcPct val="130000"/>
              </a:lnSpc>
            </a:pPr>
            <a:r>
              <a:rPr lang="en-US" altLang="en-US" sz="2200" b="1"/>
              <a:t>The Goal:</a:t>
            </a:r>
            <a:r>
              <a:rPr lang="en-US" altLang="en-US" sz="2200"/>
              <a:t> Long-term stability.</a:t>
            </a:r>
            <a:endParaRPr lang="en-US" altLang="en-US" sz="2200"/>
          </a:p>
          <a:p>
            <a:pPr>
              <a:lnSpc>
                <a:spcPct val="130000"/>
              </a:lnSpc>
            </a:pPr>
            <a:r>
              <a:rPr lang="en-US" altLang="en-US" sz="2200" b="1"/>
              <a:t>Calibration: </a:t>
            </a:r>
            <a:r>
              <a:rPr lang="en-US" altLang="en-US" sz="2200"/>
              <a:t>code includes minX, maxX variables, which allow for future calibration if the camera resolution or user distance changes.</a:t>
            </a:r>
            <a:endParaRPr lang="en-US" altLang="en-US" sz="2200"/>
          </a:p>
          <a:p>
            <a:pPr>
              <a:lnSpc>
                <a:spcPct val="130000"/>
              </a:lnSpc>
            </a:pPr>
            <a:r>
              <a:rPr lang="en-US" altLang="en-US" sz="2200" b="1"/>
              <a:t>Error Handling:</a:t>
            </a:r>
            <a:r>
              <a:rPr lang="en-US" altLang="en-US" sz="2200"/>
              <a:t> The if not success- continue loop handles camera frame drops.</a:t>
            </a:r>
            <a:endParaRPr lang="en-US" altLang="en-US" sz="2200"/>
          </a:p>
          <a:p>
            <a:pPr>
              <a:lnSpc>
                <a:spcPct val="130000"/>
              </a:lnSpc>
            </a:pPr>
            <a:r>
              <a:rPr lang="en-US" altLang="en-US" sz="2200" b="1"/>
              <a:t>Resource Management:</a:t>
            </a:r>
            <a:r>
              <a:rPr lang="en-US" altLang="en-US" sz="2200"/>
              <a:t> cap.release() and cv2.destroyAllWindows() ensure the system cleans up memory after the presentation ends.</a:t>
            </a:r>
            <a:endParaRPr lang="en-US" altLang="en-US" sz="2200"/>
          </a:p>
        </p:txBody>
      </p:sp>
      <p:sp>
        <p:nvSpPr>
          <p:cNvPr id="3" name="Text Box 2"/>
          <p:cNvSpPr txBox="1"/>
          <p:nvPr/>
        </p:nvSpPr>
        <p:spPr>
          <a:xfrm>
            <a:off x="996315" y="461645"/>
            <a:ext cx="10206990" cy="8813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4400" b="1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charset="-122"/>
              </a:rPr>
              <a:t>Monitoring and Maintainance</a:t>
            </a:r>
            <a:endParaRPr lang="en-US" sz="4400" b="1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925" y="274955"/>
            <a:ext cx="9922510" cy="1143000"/>
          </a:xfrm>
        </p:spPr>
        <p:txBody>
          <a:bodyPr/>
          <a:p>
            <a:r>
              <a:rPr lang="en-US" sz="4000" b="1">
                <a:solidFill>
                  <a:srgbClr val="FF0000"/>
                </a:solidFill>
              </a:rPr>
              <a:t>Conclusion</a:t>
            </a: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725" y="1600200"/>
            <a:ext cx="9990455" cy="4526280"/>
          </a:xfrm>
        </p:spPr>
        <p:txBody>
          <a:bodyPr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200"/>
              <a:t>By applying the CRISP-ML(Q) framework, successfully transformed a standard webcam into a high-precision Natural User Interface. this project eliminates the need for expensive hardware remotes.</a:t>
            </a:r>
            <a:endParaRPr lang="en-US" altLang="en-US" sz="220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200"/>
              <a:t>The result is a portable, zero-cost solution that replaces the "hardware tether" with intuitive gestures, restoring speaker mobility and delivering a truly i</a:t>
            </a:r>
            <a:r>
              <a:rPr lang="en-US" altLang="en-US" sz="2200"/>
              <a:t>nteractive presentation experience.Innovation: Successful mapping of 21 landmarks to fluid digital commands.</a:t>
            </a:r>
            <a:endParaRPr lang="en-US" altLang="en-US" sz="220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30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3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/>
      <p:sp>
        <p:nvSpPr>
          <p:cNvPr id="1048642" name="Title 1"/>
          <p:cNvSpPr/>
          <p:nvPr>
            <p:ph type="title"/>
          </p:nvPr>
        </p:nvSpPr>
        <p:spPr>
          <a:xfrm>
            <a:off x="1212850" y="365125"/>
            <a:ext cx="10140950" cy="5584190"/>
          </a:xfrm>
        </p:spPr>
        <p:txBody>
          <a:bodyPr/>
          <a:p>
            <a:pPr algn="ctr"/>
            <a:endParaRPr lang="en-US"/>
          </a:p>
        </p:txBody>
      </p:sp>
      <p:sp>
        <p:nvSpPr>
          <p:cNvPr id="104864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b="1"/>
          </a:p>
        </p:txBody>
      </p:sp>
      <p:sp>
        <p:nvSpPr>
          <p:cNvPr id="104864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" name="Picture 1" descr="Q&amp;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475" y="1200150"/>
            <a:ext cx="8176260" cy="43351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5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</a:t>
            </a:r>
            <a:endParaRPr lang="en-IN" sz="4400" b="0" i="0" u="none" strike="noStrike" cap="none">
              <a:solidFill>
                <a:srgbClr val="C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alt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</a:t>
            </a: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864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5292</Words>
  <Application>WPS Presentation</Application>
  <PresentationFormat/>
  <Paragraphs>137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Calibri</vt:lpstr>
      <vt:lpstr>Lato Black</vt:lpstr>
      <vt:lpstr>Microsoft YaHei</vt:lpstr>
      <vt:lpstr>Libre Baskerville</vt:lpstr>
      <vt:lpstr>Arial Unicode MS</vt:lpstr>
      <vt:lpstr>Default Design</vt:lpstr>
      <vt:lpstr>PowerPoint 演示文稿</vt:lpstr>
      <vt:lpstr>PowerPoint 演示文稿</vt:lpstr>
      <vt:lpstr>  Agenda</vt:lpstr>
      <vt:lpstr>Business Problem</vt:lpstr>
      <vt:lpstr>Problem Statement</vt:lpstr>
      <vt:lpstr>Data Understanding</vt:lpstr>
      <vt:lpstr>Data Pre-processing</vt:lpstr>
      <vt:lpstr>PowerPoint 演示文稿</vt:lpstr>
      <vt:lpstr>PowerPoint 演示文稿</vt:lpstr>
      <vt:lpstr>PowerPoint 演示文稿</vt:lpstr>
      <vt:lpstr>PowerPoint 演示文稿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PRAVALLIKA</cp:lastModifiedBy>
  <cp:revision>38</cp:revision>
  <dcterms:created xsi:type="dcterms:W3CDTF">2026-02-28T11:33:00Z</dcterms:created>
  <dcterms:modified xsi:type="dcterms:W3CDTF">2026-06-08T16:28:43Z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A5D55944CBE74AC78FEDCEE15A3C12E6_13</vt:lpwstr>
  </property>
  <property fmtid="{D5CDD505-2E9C-101B-9397-08002B2CF9AE}" pid="3" name="KSOProductBuildVer">
    <vt:lpwstr>1033-12.1.0.26372</vt:lpwstr>
  </property>
</Properties>
</file>